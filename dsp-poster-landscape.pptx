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87E0C-A909-4B33-AAEC-C8FE2898D1D6}" v="2" dt="2021-09-27T10:48:11.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1" d="100"/>
          <a:sy n="41" d="100"/>
        </p:scale>
        <p:origin x="12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White" userId="85e06418-59bd-47e0-a045-7cb64a79f74f" providerId="ADAL" clId="{E4587E0C-A909-4B33-AAEC-C8FE2898D1D6}"/>
    <pc:docChg chg="modSld">
      <pc:chgData name="Jonathan White" userId="85e06418-59bd-47e0-a045-7cb64a79f74f" providerId="ADAL" clId="{E4587E0C-A909-4B33-AAEC-C8FE2898D1D6}" dt="2021-09-27T10:48:55.689" v="45" actId="1038"/>
      <pc:docMkLst>
        <pc:docMk/>
      </pc:docMkLst>
      <pc:sldChg chg="addSp modSp mod">
        <pc:chgData name="Jonathan White" userId="85e06418-59bd-47e0-a045-7cb64a79f74f" providerId="ADAL" clId="{E4587E0C-A909-4B33-AAEC-C8FE2898D1D6}" dt="2021-09-27T10:48:55.689" v="45" actId="1038"/>
        <pc:sldMkLst>
          <pc:docMk/>
          <pc:sldMk cId="3527676133" sldId="256"/>
        </pc:sldMkLst>
        <pc:spChg chg="mod">
          <ac:chgData name="Jonathan White" userId="85e06418-59bd-47e0-a045-7cb64a79f74f" providerId="ADAL" clId="{E4587E0C-A909-4B33-AAEC-C8FE2898D1D6}" dt="2021-09-27T10:48:55.689" v="45" actId="1038"/>
          <ac:spMkLst>
            <pc:docMk/>
            <pc:sldMk cId="3527676133" sldId="256"/>
            <ac:spMk id="10" creationId="{69BA5F24-787C-44AE-908F-B619A20C120C}"/>
          </ac:spMkLst>
        </pc:spChg>
        <pc:spChg chg="mod">
          <ac:chgData name="Jonathan White" userId="85e06418-59bd-47e0-a045-7cb64a79f74f" providerId="ADAL" clId="{E4587E0C-A909-4B33-AAEC-C8FE2898D1D6}" dt="2021-09-27T10:48:55.689" v="45" actId="1038"/>
          <ac:spMkLst>
            <pc:docMk/>
            <pc:sldMk cId="3527676133" sldId="256"/>
            <ac:spMk id="11" creationId="{8DC5D838-27F2-4B38-925B-C678D6555772}"/>
          </ac:spMkLst>
        </pc:spChg>
        <pc:spChg chg="mod">
          <ac:chgData name="Jonathan White" userId="85e06418-59bd-47e0-a045-7cb64a79f74f" providerId="ADAL" clId="{E4587E0C-A909-4B33-AAEC-C8FE2898D1D6}" dt="2021-09-27T10:48:55.689" v="45" actId="1038"/>
          <ac:spMkLst>
            <pc:docMk/>
            <pc:sldMk cId="3527676133" sldId="256"/>
            <ac:spMk id="12" creationId="{0EB231AF-9096-4646-81B1-3F5BBFA44D34}"/>
          </ac:spMkLst>
        </pc:spChg>
        <pc:spChg chg="mod">
          <ac:chgData name="Jonathan White" userId="85e06418-59bd-47e0-a045-7cb64a79f74f" providerId="ADAL" clId="{E4587E0C-A909-4B33-AAEC-C8FE2898D1D6}" dt="2021-09-27T10:48:43.194" v="28" actId="1076"/>
          <ac:spMkLst>
            <pc:docMk/>
            <pc:sldMk cId="3527676133" sldId="256"/>
            <ac:spMk id="13" creationId="{E2139A99-734D-492D-A2B4-ABC6F3A46758}"/>
          </ac:spMkLst>
        </pc:spChg>
        <pc:spChg chg="mod">
          <ac:chgData name="Jonathan White" userId="85e06418-59bd-47e0-a045-7cb64a79f74f" providerId="ADAL" clId="{E4587E0C-A909-4B33-AAEC-C8FE2898D1D6}" dt="2021-09-27T10:48:50.113" v="29" actId="1076"/>
          <ac:spMkLst>
            <pc:docMk/>
            <pc:sldMk cId="3527676133" sldId="256"/>
            <ac:spMk id="14" creationId="{29471E64-3B9C-4ECE-8C5C-623E3B8AA5F1}"/>
          </ac:spMkLst>
        </pc:spChg>
        <pc:spChg chg="mod">
          <ac:chgData name="Jonathan White" userId="85e06418-59bd-47e0-a045-7cb64a79f74f" providerId="ADAL" clId="{E4587E0C-A909-4B33-AAEC-C8FE2898D1D6}" dt="2021-09-27T10:48:30.624" v="27" actId="1076"/>
          <ac:spMkLst>
            <pc:docMk/>
            <pc:sldMk cId="3527676133" sldId="256"/>
            <ac:spMk id="19" creationId="{5B50A179-7B9A-4987-A17A-B2BA2FD57E22}"/>
          </ac:spMkLst>
        </pc:spChg>
        <pc:spChg chg="mod">
          <ac:chgData name="Jonathan White" userId="85e06418-59bd-47e0-a045-7cb64a79f74f" providerId="ADAL" clId="{E4587E0C-A909-4B33-AAEC-C8FE2898D1D6}" dt="2021-09-27T10:48:30.624" v="27" actId="1076"/>
          <ac:spMkLst>
            <pc:docMk/>
            <pc:sldMk cId="3527676133" sldId="256"/>
            <ac:spMk id="20" creationId="{D8D1FE95-39F4-4D38-B2EF-53232BFBC6D7}"/>
          </ac:spMkLst>
        </pc:spChg>
        <pc:spChg chg="add mod">
          <ac:chgData name="Jonathan White" userId="85e06418-59bd-47e0-a045-7cb64a79f74f" providerId="ADAL" clId="{E4587E0C-A909-4B33-AAEC-C8FE2898D1D6}" dt="2021-09-27T10:47:46.617" v="1" actId="1076"/>
          <ac:spMkLst>
            <pc:docMk/>
            <pc:sldMk cId="3527676133" sldId="256"/>
            <ac:spMk id="24" creationId="{CC7AA43E-169E-4584-BD61-1564EB886BA4}"/>
          </ac:spMkLst>
        </pc:spChg>
        <pc:spChg chg="add mod">
          <ac:chgData name="Jonathan White" userId="85e06418-59bd-47e0-a045-7cb64a79f74f" providerId="ADAL" clId="{E4587E0C-A909-4B33-AAEC-C8FE2898D1D6}" dt="2021-09-27T10:48:19.052" v="26" actId="1076"/>
          <ac:spMkLst>
            <pc:docMk/>
            <pc:sldMk cId="3527676133" sldId="256"/>
            <ac:spMk id="25" creationId="{4D204FDE-6B7C-493E-B33F-71E6F2C28506}"/>
          </ac:spMkLst>
        </pc:spChg>
        <pc:spChg chg="add mod">
          <ac:chgData name="Jonathan White" userId="85e06418-59bd-47e0-a045-7cb64a79f74f" providerId="ADAL" clId="{E4587E0C-A909-4B33-AAEC-C8FE2898D1D6}" dt="2021-09-27T10:48:19.052" v="26" actId="1076"/>
          <ac:spMkLst>
            <pc:docMk/>
            <pc:sldMk cId="3527676133" sldId="256"/>
            <ac:spMk id="26" creationId="{E7B24A34-D6DD-4B29-ACC3-A1E122AA648B}"/>
          </ac:spMkLst>
        </pc:spChg>
        <pc:picChg chg="add mod">
          <ac:chgData name="Jonathan White" userId="85e06418-59bd-47e0-a045-7cb64a79f74f" providerId="ADAL" clId="{E4587E0C-A909-4B33-AAEC-C8FE2898D1D6}" dt="2021-09-27T10:47:46.617" v="1" actId="1076"/>
          <ac:picMkLst>
            <pc:docMk/>
            <pc:sldMk cId="3527676133" sldId="256"/>
            <ac:picMk id="22" creationId="{3240336A-E74F-49A9-86DC-8EF5CEE144E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3499590"/>
            <a:ext cx="25733931" cy="7444669"/>
          </a:xfrm>
        </p:spPr>
        <p:txBody>
          <a:bodyPr anchor="b"/>
          <a:lstStyle>
            <a:lvl1pPr algn="ctr">
              <a:defRPr sz="18709"/>
            </a:lvl1pPr>
          </a:lstStyle>
          <a:p>
            <a:r>
              <a:rPr lang="en-US"/>
              <a:t>Click to edit Master title style</a:t>
            </a:r>
            <a:endParaRPr lang="en-US" dirty="0"/>
          </a:p>
        </p:txBody>
      </p:sp>
      <p:sp>
        <p:nvSpPr>
          <p:cNvPr id="3" name="Subtitle 2"/>
          <p:cNvSpPr>
            <a:spLocks noGrp="1"/>
          </p:cNvSpPr>
          <p:nvPr>
            <p:ph type="subTitle" idx="1"/>
          </p:nvPr>
        </p:nvSpPr>
        <p:spPr>
          <a:xfrm>
            <a:off x="3784402" y="11231355"/>
            <a:ext cx="22706410" cy="5162758"/>
          </a:xfrm>
        </p:spPr>
        <p:txBody>
          <a:bodyPr/>
          <a:lstStyle>
            <a:lvl1pPr marL="0" indent="0" algn="ctr">
              <a:buNone/>
              <a:defRPr sz="7483"/>
            </a:lvl1pPr>
            <a:lvl2pPr marL="1425595" indent="0" algn="ctr">
              <a:buNone/>
              <a:defRPr sz="6236"/>
            </a:lvl2pPr>
            <a:lvl3pPr marL="2851191" indent="0" algn="ctr">
              <a:buNone/>
              <a:defRPr sz="5613"/>
            </a:lvl3pPr>
            <a:lvl4pPr marL="4276786" indent="0" algn="ctr">
              <a:buNone/>
              <a:defRPr sz="4989"/>
            </a:lvl4pPr>
            <a:lvl5pPr marL="5702381" indent="0" algn="ctr">
              <a:buNone/>
              <a:defRPr sz="4989"/>
            </a:lvl5pPr>
            <a:lvl6pPr marL="7127977" indent="0" algn="ctr">
              <a:buNone/>
              <a:defRPr sz="4989"/>
            </a:lvl6pPr>
            <a:lvl7pPr marL="8553572" indent="0" algn="ctr">
              <a:buNone/>
              <a:defRPr sz="4989"/>
            </a:lvl7pPr>
            <a:lvl8pPr marL="9979167" indent="0" algn="ctr">
              <a:buNone/>
              <a:defRPr sz="4989"/>
            </a:lvl8pPr>
            <a:lvl9pPr marL="11404763" indent="0" algn="ctr">
              <a:buNone/>
              <a:defRPr sz="498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3186104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79900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5331063"/>
            <a:ext cx="26112371" cy="8894992"/>
          </a:xfrm>
        </p:spPr>
        <p:txBody>
          <a:bodyPr anchor="b"/>
          <a:lstStyle>
            <a:lvl1pPr>
              <a:defRPr sz="18709"/>
            </a:lvl1pPr>
          </a:lstStyle>
          <a:p>
            <a:r>
              <a:rPr lang="en-US"/>
              <a:t>Click to edit Master title style</a:t>
            </a:r>
            <a:endParaRPr lang="en-US" dirty="0"/>
          </a:p>
        </p:txBody>
      </p:sp>
      <p:sp>
        <p:nvSpPr>
          <p:cNvPr id="3" name="Text Placeholder 2"/>
          <p:cNvSpPr>
            <a:spLocks noGrp="1"/>
          </p:cNvSpPr>
          <p:nvPr>
            <p:ph type="body" idx="1"/>
          </p:nvPr>
        </p:nvSpPr>
        <p:spPr>
          <a:xfrm>
            <a:off x="2065654" y="14310205"/>
            <a:ext cx="26112371" cy="4677666"/>
          </a:xfrm>
        </p:spPr>
        <p:txBody>
          <a:bodyPr/>
          <a:lstStyle>
            <a:lvl1pPr marL="0" indent="0">
              <a:buNone/>
              <a:defRPr sz="7483">
                <a:solidFill>
                  <a:schemeClr val="tx1"/>
                </a:solidFill>
              </a:defRPr>
            </a:lvl1pPr>
            <a:lvl2pPr marL="1425595" indent="0">
              <a:buNone/>
              <a:defRPr sz="6236">
                <a:solidFill>
                  <a:schemeClr val="tx1">
                    <a:tint val="75000"/>
                  </a:schemeClr>
                </a:solidFill>
              </a:defRPr>
            </a:lvl2pPr>
            <a:lvl3pPr marL="2851191" indent="0">
              <a:buNone/>
              <a:defRPr sz="5613">
                <a:solidFill>
                  <a:schemeClr val="tx1">
                    <a:tint val="75000"/>
                  </a:schemeClr>
                </a:solidFill>
              </a:defRPr>
            </a:lvl3pPr>
            <a:lvl4pPr marL="4276786" indent="0">
              <a:buNone/>
              <a:defRPr sz="4989">
                <a:solidFill>
                  <a:schemeClr val="tx1">
                    <a:tint val="75000"/>
                  </a:schemeClr>
                </a:solidFill>
              </a:defRPr>
            </a:lvl4pPr>
            <a:lvl5pPr marL="5702381" indent="0">
              <a:buNone/>
              <a:defRPr sz="4989">
                <a:solidFill>
                  <a:schemeClr val="tx1">
                    <a:tint val="75000"/>
                  </a:schemeClr>
                </a:solidFill>
              </a:defRPr>
            </a:lvl5pPr>
            <a:lvl6pPr marL="7127977" indent="0">
              <a:buNone/>
              <a:defRPr sz="4989">
                <a:solidFill>
                  <a:schemeClr val="tx1">
                    <a:tint val="75000"/>
                  </a:schemeClr>
                </a:solidFill>
              </a:defRPr>
            </a:lvl6pPr>
            <a:lvl7pPr marL="8553572" indent="0">
              <a:buNone/>
              <a:defRPr sz="4989">
                <a:solidFill>
                  <a:schemeClr val="tx1">
                    <a:tint val="75000"/>
                  </a:schemeClr>
                </a:solidFill>
              </a:defRPr>
            </a:lvl7pPr>
            <a:lvl8pPr marL="9979167" indent="0">
              <a:buNone/>
              <a:defRPr sz="4989">
                <a:solidFill>
                  <a:schemeClr val="tx1">
                    <a:tint val="75000"/>
                  </a:schemeClr>
                </a:solidFill>
              </a:defRPr>
            </a:lvl8pPr>
            <a:lvl9pPr marL="11404763" indent="0">
              <a:buNone/>
              <a:defRPr sz="498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09615FF-C1AD-4C39-96B2-5B4D7F33D7E0}"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419193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5692400"/>
            <a:ext cx="12866966"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5692400"/>
            <a:ext cx="12866966"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9615FF-C1AD-4C39-96B2-5B4D7F33D7E0}"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034679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138485"/>
            <a:ext cx="26112371"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5241960"/>
            <a:ext cx="12807832"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Edit Master text styles</a:t>
            </a:r>
          </a:p>
        </p:txBody>
      </p:sp>
      <p:sp>
        <p:nvSpPr>
          <p:cNvPr id="4" name="Content Placeholder 3"/>
          <p:cNvSpPr>
            <a:spLocks noGrp="1"/>
          </p:cNvSpPr>
          <p:nvPr>
            <p:ph sz="half" idx="2"/>
          </p:nvPr>
        </p:nvSpPr>
        <p:spPr>
          <a:xfrm>
            <a:off x="2085368" y="7810963"/>
            <a:ext cx="12807832"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5241960"/>
            <a:ext cx="12870909"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Edit Master text styles</a:t>
            </a:r>
          </a:p>
        </p:txBody>
      </p:sp>
      <p:sp>
        <p:nvSpPr>
          <p:cNvPr id="6" name="Content Placeholder 5"/>
          <p:cNvSpPr>
            <a:spLocks noGrp="1"/>
          </p:cNvSpPr>
          <p:nvPr>
            <p:ph sz="quarter" idx="4"/>
          </p:nvPr>
        </p:nvSpPr>
        <p:spPr>
          <a:xfrm>
            <a:off x="15326828" y="7810963"/>
            <a:ext cx="12870909"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9615FF-C1AD-4C39-96B2-5B4D7F33D7E0}" type="datetimeFigureOut">
              <a:rPr lang="en-GB" smtClean="0"/>
              <a:t>03/02/2026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591823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9615FF-C1AD-4C39-96B2-5B4D7F33D7E0}" type="datetimeFigureOut">
              <a:rPr lang="en-GB" smtClean="0"/>
              <a:t>03/02/2026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253630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9615FF-C1AD-4C39-96B2-5B4D7F33D7E0}" type="datetimeFigureOut">
              <a:rPr lang="en-GB" smtClean="0"/>
              <a:t>03/02/2026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2583003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Content Placeholder 2"/>
          <p:cNvSpPr>
            <a:spLocks noGrp="1"/>
          </p:cNvSpPr>
          <p:nvPr>
            <p:ph idx="1"/>
          </p:nvPr>
        </p:nvSpPr>
        <p:spPr>
          <a:xfrm>
            <a:off x="12870909" y="3078850"/>
            <a:ext cx="15326827" cy="15196234"/>
          </a:xfrm>
        </p:spPr>
        <p:txBody>
          <a:bodyPr/>
          <a:lstStyle>
            <a:lvl1pPr>
              <a:defRPr sz="9978"/>
            </a:lvl1pPr>
            <a:lvl2pPr>
              <a:defRPr sz="8731"/>
            </a:lvl2pPr>
            <a:lvl3pPr>
              <a:defRPr sz="7483"/>
            </a:lvl3pPr>
            <a:lvl4pPr>
              <a:defRPr sz="6236"/>
            </a:lvl4pPr>
            <a:lvl5pPr>
              <a:defRPr sz="6236"/>
            </a:lvl5pPr>
            <a:lvl6pPr>
              <a:defRPr sz="6236"/>
            </a:lvl6pPr>
            <a:lvl7pPr>
              <a:defRPr sz="6236"/>
            </a:lvl7pPr>
            <a:lvl8pPr>
              <a:defRPr sz="6236"/>
            </a:lvl8pPr>
            <a:lvl9pPr>
              <a:defRPr sz="6236"/>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Edit Master text styles</a:t>
            </a:r>
          </a:p>
        </p:txBody>
      </p:sp>
      <p:sp>
        <p:nvSpPr>
          <p:cNvPr id="5" name="Date Placeholder 4"/>
          <p:cNvSpPr>
            <a:spLocks noGrp="1"/>
          </p:cNvSpPr>
          <p:nvPr>
            <p:ph type="dt" sz="half" idx="10"/>
          </p:nvPr>
        </p:nvSpPr>
        <p:spPr/>
        <p:txBody>
          <a:bodyPr/>
          <a:lstStyle/>
          <a:p>
            <a:fld id="{A09615FF-C1AD-4C39-96B2-5B4D7F33D7E0}"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30133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3078850"/>
            <a:ext cx="15326827" cy="15196234"/>
          </a:xfrm>
        </p:spPr>
        <p:txBody>
          <a:bodyPr anchor="t"/>
          <a:lstStyle>
            <a:lvl1pPr marL="0" indent="0">
              <a:buNone/>
              <a:defRPr sz="9978"/>
            </a:lvl1pPr>
            <a:lvl2pPr marL="1425595" indent="0">
              <a:buNone/>
              <a:defRPr sz="8731"/>
            </a:lvl2pPr>
            <a:lvl3pPr marL="2851191" indent="0">
              <a:buNone/>
              <a:defRPr sz="7483"/>
            </a:lvl3pPr>
            <a:lvl4pPr marL="4276786" indent="0">
              <a:buNone/>
              <a:defRPr sz="6236"/>
            </a:lvl4pPr>
            <a:lvl5pPr marL="5702381" indent="0">
              <a:buNone/>
              <a:defRPr sz="6236"/>
            </a:lvl5pPr>
            <a:lvl6pPr marL="7127977" indent="0">
              <a:buNone/>
              <a:defRPr sz="6236"/>
            </a:lvl6pPr>
            <a:lvl7pPr marL="8553572" indent="0">
              <a:buNone/>
              <a:defRPr sz="6236"/>
            </a:lvl7pPr>
            <a:lvl8pPr marL="9979167" indent="0">
              <a:buNone/>
              <a:defRPr sz="6236"/>
            </a:lvl8pPr>
            <a:lvl9pPr marL="11404763" indent="0">
              <a:buNone/>
              <a:defRPr sz="6236"/>
            </a:lvl9pPr>
          </a:lstStyle>
          <a:p>
            <a:r>
              <a:rPr lang="en-US"/>
              <a:t>Click icon to add picture</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Edit Master text styles</a:t>
            </a:r>
          </a:p>
        </p:txBody>
      </p:sp>
      <p:sp>
        <p:nvSpPr>
          <p:cNvPr id="5" name="Date Placeholder 4"/>
          <p:cNvSpPr>
            <a:spLocks noGrp="1"/>
          </p:cNvSpPr>
          <p:nvPr>
            <p:ph type="dt" sz="half" idx="10"/>
          </p:nvPr>
        </p:nvSpPr>
        <p:spPr/>
        <p:txBody>
          <a:bodyPr/>
          <a:lstStyle/>
          <a:p>
            <a:fld id="{A09615FF-C1AD-4C39-96B2-5B4D7F33D7E0}"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102412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65919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1138480"/>
            <a:ext cx="6528093"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1138480"/>
            <a:ext cx="19205838" cy="181216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615FF-C1AD-4C39-96B2-5B4D7F33D7E0}"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29470E-1902-4A04-B057-E00266831377}" type="slidenum">
              <a:rPr lang="en-GB" smtClean="0"/>
              <a:t>‹#›</a:t>
            </a:fld>
            <a:endParaRPr lang="en-GB"/>
          </a:p>
        </p:txBody>
      </p:sp>
    </p:spTree>
    <p:extLst>
      <p:ext uri="{BB962C8B-B14F-4D97-AF65-F5344CB8AC3E}">
        <p14:creationId xmlns:p14="http://schemas.microsoft.com/office/powerpoint/2010/main" val="366808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1138485"/>
            <a:ext cx="26112371"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19819457"/>
            <a:ext cx="6811923" cy="1138480"/>
          </a:xfrm>
          <a:prstGeom prst="rect">
            <a:avLst/>
          </a:prstGeom>
        </p:spPr>
        <p:txBody>
          <a:bodyPr vert="horz" lIns="91440" tIns="45720" rIns="91440" bIns="45720" rtlCol="0" anchor="ctr"/>
          <a:lstStyle>
            <a:lvl1pPr algn="l">
              <a:defRPr sz="3742">
                <a:solidFill>
                  <a:schemeClr val="tx1">
                    <a:tint val="75000"/>
                  </a:schemeClr>
                </a:solidFill>
              </a:defRPr>
            </a:lvl1pPr>
          </a:lstStyle>
          <a:p>
            <a:fld id="{A09615FF-C1AD-4C39-96B2-5B4D7F33D7E0}" type="datetimeFigureOut">
              <a:rPr lang="en-GB" smtClean="0"/>
              <a:t>03/02/2026</a:t>
            </a:fld>
            <a:endParaRPr lang="en-GB"/>
          </a:p>
        </p:txBody>
      </p:sp>
      <p:sp>
        <p:nvSpPr>
          <p:cNvPr id="5" name="Footer Placeholder 4"/>
          <p:cNvSpPr>
            <a:spLocks noGrp="1"/>
          </p:cNvSpPr>
          <p:nvPr>
            <p:ph type="ftr" sz="quarter" idx="3"/>
          </p:nvPr>
        </p:nvSpPr>
        <p:spPr>
          <a:xfrm>
            <a:off x="10028665" y="19819457"/>
            <a:ext cx="10217884" cy="1138480"/>
          </a:xfrm>
          <a:prstGeom prst="rect">
            <a:avLst/>
          </a:prstGeom>
        </p:spPr>
        <p:txBody>
          <a:bodyPr vert="horz" lIns="91440" tIns="45720" rIns="91440" bIns="45720" rtlCol="0" anchor="ctr"/>
          <a:lstStyle>
            <a:lvl1pPr algn="ctr">
              <a:defRPr sz="3742">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19819457"/>
            <a:ext cx="6811923" cy="1138480"/>
          </a:xfrm>
          <a:prstGeom prst="rect">
            <a:avLst/>
          </a:prstGeom>
        </p:spPr>
        <p:txBody>
          <a:bodyPr vert="horz" lIns="91440" tIns="45720" rIns="91440" bIns="45720" rtlCol="0" anchor="ctr"/>
          <a:lstStyle>
            <a:lvl1pPr algn="r">
              <a:defRPr sz="3742">
                <a:solidFill>
                  <a:schemeClr val="tx1">
                    <a:tint val="75000"/>
                  </a:schemeClr>
                </a:solidFill>
              </a:defRPr>
            </a:lvl1pPr>
          </a:lstStyle>
          <a:p>
            <a:fld id="{8E29470E-1902-4A04-B057-E00266831377}" type="slidenum">
              <a:rPr lang="en-GB" smtClean="0"/>
              <a:t>‹#›</a:t>
            </a:fld>
            <a:endParaRPr lang="en-GB"/>
          </a:p>
        </p:txBody>
      </p:sp>
    </p:spTree>
    <p:extLst>
      <p:ext uri="{BB962C8B-B14F-4D97-AF65-F5344CB8AC3E}">
        <p14:creationId xmlns:p14="http://schemas.microsoft.com/office/powerpoint/2010/main" val="35521967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51191" rtl="0" eaLnBrk="1" latinLnBrk="0" hangingPunct="1">
        <a:lnSpc>
          <a:spcPct val="90000"/>
        </a:lnSpc>
        <a:spcBef>
          <a:spcPct val="0"/>
        </a:spcBef>
        <a:buNone/>
        <a:defRPr sz="13720" kern="1200">
          <a:solidFill>
            <a:schemeClr val="tx1"/>
          </a:solidFill>
          <a:latin typeface="+mj-lt"/>
          <a:ea typeface="+mj-ea"/>
          <a:cs typeface="+mj-cs"/>
        </a:defRPr>
      </a:lvl1pPr>
    </p:titleStyle>
    <p:bodyStyle>
      <a:lvl1pPr marL="712798" indent="-712798" algn="l" defTabSz="2851191" rtl="0" eaLnBrk="1" latinLnBrk="0" hangingPunct="1">
        <a:lnSpc>
          <a:spcPct val="90000"/>
        </a:lnSpc>
        <a:spcBef>
          <a:spcPts val="3118"/>
        </a:spcBef>
        <a:buFont typeface="Arial" panose="020B0604020202020204" pitchFamily="34" charset="0"/>
        <a:buChar char="•"/>
        <a:defRPr sz="8731" kern="1200">
          <a:solidFill>
            <a:schemeClr val="tx1"/>
          </a:solidFill>
          <a:latin typeface="+mn-lt"/>
          <a:ea typeface="+mn-ea"/>
          <a:cs typeface="+mn-cs"/>
        </a:defRPr>
      </a:lvl1pPr>
      <a:lvl2pPr marL="2138393" indent="-712798" algn="l" defTabSz="2851191" rtl="0" eaLnBrk="1" latinLnBrk="0" hangingPunct="1">
        <a:lnSpc>
          <a:spcPct val="90000"/>
        </a:lnSpc>
        <a:spcBef>
          <a:spcPts val="1559"/>
        </a:spcBef>
        <a:buFont typeface="Arial" panose="020B0604020202020204" pitchFamily="34" charset="0"/>
        <a:buChar char="•"/>
        <a:defRPr sz="7483" kern="1200">
          <a:solidFill>
            <a:schemeClr val="tx1"/>
          </a:solidFill>
          <a:latin typeface="+mn-lt"/>
          <a:ea typeface="+mn-ea"/>
          <a:cs typeface="+mn-cs"/>
        </a:defRPr>
      </a:lvl2pPr>
      <a:lvl3pPr marL="3563988" indent="-712798" algn="l" defTabSz="2851191" rtl="0" eaLnBrk="1" latinLnBrk="0" hangingPunct="1">
        <a:lnSpc>
          <a:spcPct val="90000"/>
        </a:lnSpc>
        <a:spcBef>
          <a:spcPts val="1559"/>
        </a:spcBef>
        <a:buFont typeface="Arial" panose="020B0604020202020204" pitchFamily="34" charset="0"/>
        <a:buChar char="•"/>
        <a:defRPr sz="6236" kern="1200">
          <a:solidFill>
            <a:schemeClr val="tx1"/>
          </a:solidFill>
          <a:latin typeface="+mn-lt"/>
          <a:ea typeface="+mn-ea"/>
          <a:cs typeface="+mn-cs"/>
        </a:defRPr>
      </a:lvl3pPr>
      <a:lvl4pPr marL="498958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4pPr>
      <a:lvl5pPr marL="6415179"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5pPr>
      <a:lvl6pPr marL="784077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6pPr>
      <a:lvl7pPr marL="926637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7pPr>
      <a:lvl8pPr marL="10691965"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8pPr>
      <a:lvl9pPr marL="1211756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9pPr>
    </p:bodyStyle>
    <p:otherStyle>
      <a:defPPr>
        <a:defRPr lang="en-US"/>
      </a:defPPr>
      <a:lvl1pPr marL="0" algn="l" defTabSz="2851191" rtl="0" eaLnBrk="1" latinLnBrk="0" hangingPunct="1">
        <a:defRPr sz="5613" kern="1200">
          <a:solidFill>
            <a:schemeClr val="tx1"/>
          </a:solidFill>
          <a:latin typeface="+mn-lt"/>
          <a:ea typeface="+mn-ea"/>
          <a:cs typeface="+mn-cs"/>
        </a:defRPr>
      </a:lvl1pPr>
      <a:lvl2pPr marL="1425595" algn="l" defTabSz="2851191" rtl="0" eaLnBrk="1" latinLnBrk="0" hangingPunct="1">
        <a:defRPr sz="5613" kern="1200">
          <a:solidFill>
            <a:schemeClr val="tx1"/>
          </a:solidFill>
          <a:latin typeface="+mn-lt"/>
          <a:ea typeface="+mn-ea"/>
          <a:cs typeface="+mn-cs"/>
        </a:defRPr>
      </a:lvl2pPr>
      <a:lvl3pPr marL="2851191" algn="l" defTabSz="2851191" rtl="0" eaLnBrk="1" latinLnBrk="0" hangingPunct="1">
        <a:defRPr sz="5613" kern="1200">
          <a:solidFill>
            <a:schemeClr val="tx1"/>
          </a:solidFill>
          <a:latin typeface="+mn-lt"/>
          <a:ea typeface="+mn-ea"/>
          <a:cs typeface="+mn-cs"/>
        </a:defRPr>
      </a:lvl3pPr>
      <a:lvl4pPr marL="4276786" algn="l" defTabSz="2851191" rtl="0" eaLnBrk="1" latinLnBrk="0" hangingPunct="1">
        <a:defRPr sz="5613" kern="1200">
          <a:solidFill>
            <a:schemeClr val="tx1"/>
          </a:solidFill>
          <a:latin typeface="+mn-lt"/>
          <a:ea typeface="+mn-ea"/>
          <a:cs typeface="+mn-cs"/>
        </a:defRPr>
      </a:lvl4pPr>
      <a:lvl5pPr marL="5702381" algn="l" defTabSz="2851191" rtl="0" eaLnBrk="1" latinLnBrk="0" hangingPunct="1">
        <a:defRPr sz="5613" kern="1200">
          <a:solidFill>
            <a:schemeClr val="tx1"/>
          </a:solidFill>
          <a:latin typeface="+mn-lt"/>
          <a:ea typeface="+mn-ea"/>
          <a:cs typeface="+mn-cs"/>
        </a:defRPr>
      </a:lvl5pPr>
      <a:lvl6pPr marL="7127977" algn="l" defTabSz="2851191" rtl="0" eaLnBrk="1" latinLnBrk="0" hangingPunct="1">
        <a:defRPr sz="5613" kern="1200">
          <a:solidFill>
            <a:schemeClr val="tx1"/>
          </a:solidFill>
          <a:latin typeface="+mn-lt"/>
          <a:ea typeface="+mn-ea"/>
          <a:cs typeface="+mn-cs"/>
        </a:defRPr>
      </a:lvl6pPr>
      <a:lvl7pPr marL="8553572" algn="l" defTabSz="2851191" rtl="0" eaLnBrk="1" latinLnBrk="0" hangingPunct="1">
        <a:defRPr sz="5613" kern="1200">
          <a:solidFill>
            <a:schemeClr val="tx1"/>
          </a:solidFill>
          <a:latin typeface="+mn-lt"/>
          <a:ea typeface="+mn-ea"/>
          <a:cs typeface="+mn-cs"/>
        </a:defRPr>
      </a:lvl7pPr>
      <a:lvl8pPr marL="9979167" algn="l" defTabSz="2851191" rtl="0" eaLnBrk="1" latinLnBrk="0" hangingPunct="1">
        <a:defRPr sz="5613" kern="1200">
          <a:solidFill>
            <a:schemeClr val="tx1"/>
          </a:solidFill>
          <a:latin typeface="+mn-lt"/>
          <a:ea typeface="+mn-ea"/>
          <a:cs typeface="+mn-cs"/>
        </a:defRPr>
      </a:lvl8pPr>
      <a:lvl9pPr marL="11404763" algn="l" defTabSz="2851191" rtl="0" eaLnBrk="1" latinLnBrk="0" hangingPunct="1">
        <a:defRPr sz="56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2F3DE40-F1B5-4977-85B9-1AECC389B896}"/>
              </a:ext>
            </a:extLst>
          </p:cNvPr>
          <p:cNvSpPr txBox="1"/>
          <p:nvPr/>
        </p:nvSpPr>
        <p:spPr>
          <a:xfrm>
            <a:off x="6221124" y="0"/>
            <a:ext cx="10516918" cy="923330"/>
          </a:xfrm>
          <a:prstGeom prst="rect">
            <a:avLst/>
          </a:prstGeom>
          <a:noFill/>
        </p:spPr>
        <p:txBody>
          <a:bodyPr wrap="none" rtlCol="0">
            <a:spAutoFit/>
          </a:bodyPr>
          <a:lstStyle/>
          <a:p>
            <a:r>
              <a:rPr lang="en-GB" sz="5400" dirty="0"/>
              <a:t>UFCFXK-30-3: Digital Systems Project</a:t>
            </a:r>
          </a:p>
        </p:txBody>
      </p:sp>
      <p:pic>
        <p:nvPicPr>
          <p:cNvPr id="8" name="Picture 6" descr="Welcome to UWE Bristol - University of the West of England ...">
            <a:extLst>
              <a:ext uri="{FF2B5EF4-FFF2-40B4-BE49-F238E27FC236}">
                <a16:creationId xmlns:a16="http://schemas.microsoft.com/office/drawing/2014/main" id="{AEE2C9CD-77BB-42E5-B50C-E5AFA99CC163}"/>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5457" y="0"/>
            <a:ext cx="5816411" cy="29082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0246FA-7BB3-460A-BC34-659DB14AA1A0}"/>
              </a:ext>
            </a:extLst>
          </p:cNvPr>
          <p:cNvSpPr txBox="1"/>
          <p:nvPr/>
        </p:nvSpPr>
        <p:spPr>
          <a:xfrm>
            <a:off x="6221124" y="1218417"/>
            <a:ext cx="15681985" cy="1938992"/>
          </a:xfrm>
          <a:prstGeom prst="rect">
            <a:avLst/>
          </a:prstGeom>
          <a:noFill/>
        </p:spPr>
        <p:txBody>
          <a:bodyPr wrap="none" rtlCol="0">
            <a:spAutoFit/>
          </a:bodyPr>
          <a:lstStyle/>
          <a:p>
            <a:r>
              <a:rPr lang="en-GB" sz="4000" dirty="0"/>
              <a:t>Student name</a:t>
            </a:r>
            <a:r>
              <a:rPr lang="en-GB" sz="4000" dirty="0" smtClean="0"/>
              <a:t>: </a:t>
            </a:r>
            <a:r>
              <a:rPr lang="en-GB" sz="4000" u="sng" dirty="0" smtClean="0"/>
              <a:t>Nguyen </a:t>
            </a:r>
            <a:r>
              <a:rPr lang="en-GB" sz="4000" u="sng" dirty="0" err="1" smtClean="0"/>
              <a:t>Nhat</a:t>
            </a:r>
            <a:r>
              <a:rPr lang="en-GB" sz="4000" u="sng" dirty="0" smtClean="0"/>
              <a:t> Minh</a:t>
            </a:r>
            <a:endParaRPr lang="en-GB" sz="4000" u="sng" dirty="0"/>
          </a:p>
          <a:p>
            <a:r>
              <a:rPr lang="en-GB" sz="4000" dirty="0"/>
              <a:t>Project </a:t>
            </a:r>
            <a:r>
              <a:rPr lang="en-GB" sz="4000" dirty="0" smtClean="0"/>
              <a:t>Title: </a:t>
            </a:r>
            <a:r>
              <a:rPr lang="en-GB" sz="4000" u="sng" dirty="0" smtClean="0"/>
              <a:t>Design </a:t>
            </a:r>
            <a:r>
              <a:rPr lang="en-GB" sz="4000" u="sng" dirty="0"/>
              <a:t>and Development of an AI Agent–Based </a:t>
            </a:r>
            <a:endParaRPr lang="en-GB" sz="4000" u="sng" dirty="0" smtClean="0"/>
          </a:p>
          <a:p>
            <a:r>
              <a:rPr lang="en-GB" sz="4000" u="sng" dirty="0" smtClean="0"/>
              <a:t>Customer </a:t>
            </a:r>
            <a:r>
              <a:rPr lang="en-GB" sz="4000" u="sng" dirty="0"/>
              <a:t>Support </a:t>
            </a:r>
            <a:r>
              <a:rPr lang="en-GB" sz="4000" u="sng" dirty="0" smtClean="0"/>
              <a:t>System for Hotel </a:t>
            </a:r>
            <a:r>
              <a:rPr lang="en-GB" sz="4000" u="sng" dirty="0"/>
              <a:t>Using Retrieval-Augmented Generation</a:t>
            </a:r>
          </a:p>
        </p:txBody>
      </p:sp>
      <p:sp>
        <p:nvSpPr>
          <p:cNvPr id="10" name="Title 1">
            <a:extLst>
              <a:ext uri="{FF2B5EF4-FFF2-40B4-BE49-F238E27FC236}">
                <a16:creationId xmlns:a16="http://schemas.microsoft.com/office/drawing/2014/main" id="{69BA5F24-787C-44AE-908F-B619A20C120C}"/>
              </a:ext>
            </a:extLst>
          </p:cNvPr>
          <p:cNvSpPr txBox="1">
            <a:spLocks/>
          </p:cNvSpPr>
          <p:nvPr/>
        </p:nvSpPr>
        <p:spPr>
          <a:xfrm>
            <a:off x="344458" y="5058834"/>
            <a:ext cx="9636078" cy="4924923"/>
          </a:xfrm>
          <a:prstGeom prst="rect">
            <a:avLst/>
          </a:prstGeom>
        </p:spPr>
        <p:txBody>
          <a:bodyPr vert="horz" lIns="91440" tIns="45720" rIns="91440" bIns="45720" rtlCol="0" anchor="t">
            <a:normAutofit lnSpcReduction="1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Abstract:</a:t>
            </a:r>
          </a:p>
          <a:p>
            <a:pPr algn="l"/>
            <a:endParaRPr lang="en-GB" sz="2800" dirty="0"/>
          </a:p>
          <a:p>
            <a:pPr algn="l"/>
            <a:r>
              <a:rPr lang="en-US" sz="2200" dirty="0"/>
              <a:t>This project investigates the design and implementation of an AI agent–based hotel guest support system aimed at improving the accuracy and reliability of automated customer assistance in hospitality environments. Traditional rule-based </a:t>
            </a:r>
            <a:r>
              <a:rPr lang="en-US" sz="2200" dirty="0" err="1"/>
              <a:t>chatbots</a:t>
            </a:r>
            <a:r>
              <a:rPr lang="en-US" sz="2200" dirty="0"/>
              <a:t> often fail to handle complex, context-dependent guest enquiries, leading to incorrect information and reduced service quality</a:t>
            </a:r>
            <a:r>
              <a:rPr lang="en-US" sz="2200" dirty="0" smtClean="0"/>
              <a:t>.</a:t>
            </a:r>
          </a:p>
          <a:p>
            <a:pPr algn="l"/>
            <a:endParaRPr lang="en-US" sz="2200" dirty="0"/>
          </a:p>
          <a:p>
            <a:pPr algn="l"/>
            <a:r>
              <a:rPr lang="en-US" sz="2200" dirty="0"/>
              <a:t>The proposed system integrates large language models with Retrieval-Augmented Generation (RAG) to ground responses in hotel-specific knowledge such as policies, facilities, and services. An agentic decision-making mechanism is incorporated to interpret guest intent, retrieve relevant information, and determine whether a request can be resolved autonomously or requires escalation to hotel staff.</a:t>
            </a:r>
          </a:p>
          <a:p>
            <a:pPr algn="l"/>
            <a:r>
              <a:rPr lang="en-US" sz="2200" dirty="0"/>
              <a:t>The project demonstrates a functional prototype that highlights the practicality of AI agents in supporting hotel guest interactions while reducing hallucination and improving trustworthiness.</a:t>
            </a:r>
          </a:p>
        </p:txBody>
      </p:sp>
      <p:sp>
        <p:nvSpPr>
          <p:cNvPr id="11" name="Title 1">
            <a:extLst>
              <a:ext uri="{FF2B5EF4-FFF2-40B4-BE49-F238E27FC236}">
                <a16:creationId xmlns:a16="http://schemas.microsoft.com/office/drawing/2014/main" id="{8DC5D838-27F2-4B38-925B-C678D6555772}"/>
              </a:ext>
            </a:extLst>
          </p:cNvPr>
          <p:cNvSpPr>
            <a:spLocks noGrp="1"/>
          </p:cNvSpPr>
          <p:nvPr>
            <p:ph type="ctrTitle"/>
          </p:nvPr>
        </p:nvSpPr>
        <p:spPr>
          <a:xfrm>
            <a:off x="344458" y="15616699"/>
            <a:ext cx="9636078" cy="5169110"/>
          </a:xfrm>
        </p:spPr>
        <p:txBody>
          <a:bodyPr anchor="t">
            <a:normAutofit fontScale="90000"/>
          </a:bodyPr>
          <a:lstStyle/>
          <a:p>
            <a:pPr algn="l"/>
            <a:r>
              <a:rPr lang="en-GB" sz="3300" b="1" dirty="0" smtClean="0"/>
              <a:t>Research:</a:t>
            </a:r>
            <a:br>
              <a:rPr lang="en-GB" sz="3300" b="1" dirty="0" smtClean="0"/>
            </a:br>
            <a:r>
              <a:rPr lang="en-GB" sz="3000" dirty="0" smtClean="0"/>
              <a:t/>
            </a:r>
            <a:br>
              <a:rPr lang="en-GB" sz="3000" dirty="0" smtClean="0"/>
            </a:br>
            <a:r>
              <a:rPr lang="en-US" sz="2400" dirty="0"/>
              <a:t>Conversational AI in customer support has evolved from early rule-based </a:t>
            </a:r>
            <a:r>
              <a:rPr lang="en-US" sz="2400" dirty="0" err="1"/>
              <a:t>chatbots</a:t>
            </a:r>
            <a:r>
              <a:rPr lang="en-US" sz="2400" dirty="0"/>
              <a:t>, such as ELIZA-style systems, to data-driven and learning-based models trained on large dialogue datasets (Shum, He and Li, 2018). While task-oriented dialogue systems introduced intent classification and slot-filling to support structured interactions, they often struggle with open-ended and knowledge-intensive enquiries common in hotel guest support scenarios (Wang et al., 2022</a:t>
            </a:r>
            <a:r>
              <a:rPr lang="en-US" sz="2400" dirty="0" smtClean="0"/>
              <a:t>).</a:t>
            </a:r>
            <a:br>
              <a:rPr lang="en-US" sz="2400" dirty="0" smtClean="0"/>
            </a:br>
            <a:r>
              <a:rPr lang="en-US" sz="2400" dirty="0"/>
              <a:t/>
            </a:r>
            <a:br>
              <a:rPr lang="en-US" sz="2400" dirty="0"/>
            </a:br>
            <a:r>
              <a:rPr lang="en-US" sz="2400" dirty="0"/>
              <a:t>Retrieval-Augmented Generation (RAG), introduced in 2020, improves response reliability by grounding language model outputs in externally retrieved documents, thereby reducing hallucination in knowledge-intensive tasks (Lewis et al., 2020). More recent research on agentic large language models enables conversational systems to reason about actions and autonomously select tools such as retrieval modules or escalation mechanisms, supporting more adaptive and reliable guest support in hospitality environments (Russell and </a:t>
            </a:r>
            <a:r>
              <a:rPr lang="en-US" sz="2400" dirty="0" err="1"/>
              <a:t>Norvig</a:t>
            </a:r>
            <a:r>
              <a:rPr lang="en-US" sz="2400" dirty="0"/>
              <a:t>, 2021).</a:t>
            </a:r>
            <a:br>
              <a:rPr lang="en-US" sz="2400" dirty="0"/>
            </a:br>
            <a:r>
              <a:rPr lang="en-US" sz="9600" dirty="0"/>
              <a:t/>
            </a:r>
            <a:br>
              <a:rPr lang="en-US" sz="9600" dirty="0"/>
            </a:br>
            <a:r>
              <a:rPr lang="en-US" sz="9600" dirty="0"/>
              <a:t/>
            </a:r>
            <a:br>
              <a:rPr lang="en-US" sz="9600" dirty="0"/>
            </a:br>
            <a:r>
              <a:rPr lang="en-US" sz="9600" dirty="0"/>
              <a:t/>
            </a:r>
            <a:br>
              <a:rPr lang="en-US" sz="9600" dirty="0"/>
            </a:br>
            <a:r>
              <a:rPr lang="en-US" sz="9600" dirty="0"/>
              <a:t/>
            </a:r>
            <a:br>
              <a:rPr lang="en-US" sz="9600" dirty="0"/>
            </a:br>
            <a:endParaRPr lang="en-GB" sz="2400" dirty="0"/>
          </a:p>
        </p:txBody>
      </p:sp>
      <p:sp>
        <p:nvSpPr>
          <p:cNvPr id="12" name="Title 1">
            <a:extLst>
              <a:ext uri="{FF2B5EF4-FFF2-40B4-BE49-F238E27FC236}">
                <a16:creationId xmlns:a16="http://schemas.microsoft.com/office/drawing/2014/main" id="{0EB231AF-9096-4646-81B1-3F5BBFA44D34}"/>
              </a:ext>
            </a:extLst>
          </p:cNvPr>
          <p:cNvSpPr txBox="1">
            <a:spLocks/>
          </p:cNvSpPr>
          <p:nvPr/>
        </p:nvSpPr>
        <p:spPr>
          <a:xfrm>
            <a:off x="344458" y="9703836"/>
            <a:ext cx="9636078" cy="7035282"/>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Aims and objectives:</a:t>
            </a:r>
          </a:p>
          <a:p>
            <a:pPr algn="l"/>
            <a:endParaRPr lang="en-GB" sz="2400" dirty="0"/>
          </a:p>
          <a:p>
            <a:pPr algn="l"/>
            <a:r>
              <a:rPr lang="en-US" sz="2200" b="1" dirty="0"/>
              <a:t>Aim</a:t>
            </a:r>
            <a:r>
              <a:rPr lang="en-US" sz="2200" dirty="0"/>
              <a:t/>
            </a:r>
            <a:br>
              <a:rPr lang="en-US" sz="2200" dirty="0"/>
            </a:br>
            <a:r>
              <a:rPr lang="en-US" sz="2200" dirty="0"/>
              <a:t>To design and implement an AI agent–based hotel guest support system that autonomously interprets guest enquiries, retrieves relevant hotel knowledge, and provides accurate and reliable responses</a:t>
            </a:r>
            <a:r>
              <a:rPr lang="en-US" sz="2200" dirty="0" smtClean="0"/>
              <a:t>.</a:t>
            </a:r>
          </a:p>
          <a:p>
            <a:pPr algn="l"/>
            <a:endParaRPr lang="en-US" sz="2200" dirty="0"/>
          </a:p>
          <a:p>
            <a:pPr algn="l"/>
            <a:r>
              <a:rPr lang="en-US" sz="2200" b="1" dirty="0"/>
              <a:t>Objectives</a:t>
            </a:r>
            <a:endParaRPr lang="en-US" sz="2200" dirty="0"/>
          </a:p>
          <a:p>
            <a:pPr algn="l"/>
            <a:r>
              <a:rPr lang="en-US" sz="2200" dirty="0"/>
              <a:t>To review literature on conversational AI, Retrieval-Augmented Generation, and agentic systems within customer service and hospitality contexts.</a:t>
            </a:r>
          </a:p>
          <a:p>
            <a:pPr algn="l"/>
            <a:r>
              <a:rPr lang="en-US" sz="2200" dirty="0"/>
              <a:t>To design an AI agent architecture supporting intent classification, knowledge retrieval, response generation, and escalation.</a:t>
            </a:r>
          </a:p>
          <a:p>
            <a:pPr algn="l"/>
            <a:r>
              <a:rPr lang="en-US" sz="2200" dirty="0"/>
              <a:t>To implement a RAG pipeline that grounds responses in hotel-specific documentation.</a:t>
            </a:r>
          </a:p>
          <a:p>
            <a:pPr algn="l"/>
            <a:r>
              <a:rPr lang="en-US" sz="2200" dirty="0"/>
              <a:t>To develop a confidence-based escalation mechanism for routing complex or uncertain queries to hotel staff.</a:t>
            </a:r>
          </a:p>
          <a:p>
            <a:pPr algn="l"/>
            <a:r>
              <a:rPr lang="en-US" sz="2200" dirty="0"/>
              <a:t>To demonstrate the system through a functional prototype focused on hotel guest support scenarios.</a:t>
            </a:r>
          </a:p>
          <a:p>
            <a:pPr algn="l"/>
            <a:endParaRPr lang="en-GB" sz="2400" dirty="0"/>
          </a:p>
          <a:p>
            <a:pPr algn="l"/>
            <a:endParaRPr lang="en-GB" sz="3200" dirty="0"/>
          </a:p>
          <a:p>
            <a:pPr algn="l"/>
            <a:endParaRPr lang="en-GB" sz="2400" dirty="0"/>
          </a:p>
        </p:txBody>
      </p:sp>
      <p:sp>
        <p:nvSpPr>
          <p:cNvPr id="13" name="TextBox 12">
            <a:extLst>
              <a:ext uri="{FF2B5EF4-FFF2-40B4-BE49-F238E27FC236}">
                <a16:creationId xmlns:a16="http://schemas.microsoft.com/office/drawing/2014/main" id="{E2139A99-734D-492D-A2B4-ABC6F3A46758}"/>
              </a:ext>
            </a:extLst>
          </p:cNvPr>
          <p:cNvSpPr txBox="1"/>
          <p:nvPr/>
        </p:nvSpPr>
        <p:spPr>
          <a:xfrm>
            <a:off x="10361349" y="10972844"/>
            <a:ext cx="9991092" cy="553998"/>
          </a:xfrm>
          <a:prstGeom prst="rect">
            <a:avLst/>
          </a:prstGeom>
          <a:noFill/>
        </p:spPr>
        <p:txBody>
          <a:bodyPr wrap="square" rtlCol="0">
            <a:spAutoFit/>
          </a:bodyPr>
          <a:lstStyle/>
          <a:p>
            <a:r>
              <a:rPr lang="en-GB" sz="3000" b="1" dirty="0"/>
              <a:t>Design, Implementation &amp; Testing</a:t>
            </a:r>
          </a:p>
        </p:txBody>
      </p:sp>
      <p:sp>
        <p:nvSpPr>
          <p:cNvPr id="14" name="Title 1">
            <a:extLst>
              <a:ext uri="{FF2B5EF4-FFF2-40B4-BE49-F238E27FC236}">
                <a16:creationId xmlns:a16="http://schemas.microsoft.com/office/drawing/2014/main" id="{29471E64-3B9C-4ECE-8C5C-623E3B8AA5F1}"/>
              </a:ext>
            </a:extLst>
          </p:cNvPr>
          <p:cNvSpPr txBox="1">
            <a:spLocks/>
          </p:cNvSpPr>
          <p:nvPr/>
        </p:nvSpPr>
        <p:spPr>
          <a:xfrm>
            <a:off x="10354219" y="5058834"/>
            <a:ext cx="9845921" cy="5590269"/>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Key requirements:</a:t>
            </a:r>
          </a:p>
          <a:p>
            <a:pPr algn="l"/>
            <a:endParaRPr lang="en-GB" sz="2400" dirty="0"/>
          </a:p>
          <a:p>
            <a:pPr algn="l"/>
            <a:r>
              <a:rPr lang="en-US" sz="2200" b="1" dirty="0"/>
              <a:t>Functional Requirements</a:t>
            </a:r>
            <a:endParaRPr lang="en-US" sz="2200" dirty="0"/>
          </a:p>
          <a:p>
            <a:pPr algn="l"/>
            <a:r>
              <a:rPr lang="en-US" sz="2200" dirty="0"/>
              <a:t>The system must classify guest intent from natural language input.</a:t>
            </a:r>
          </a:p>
          <a:p>
            <a:pPr algn="l"/>
            <a:r>
              <a:rPr lang="en-US" sz="2200" dirty="0"/>
              <a:t>The system must retrieve relevant hotel information using vector similarity search.</a:t>
            </a:r>
          </a:p>
          <a:p>
            <a:pPr algn="l"/>
            <a:r>
              <a:rPr lang="en-US" sz="2200" dirty="0"/>
              <a:t>The system must generate context-aware responses grounded in retrieved content.</a:t>
            </a:r>
          </a:p>
          <a:p>
            <a:pPr algn="l"/>
            <a:r>
              <a:rPr lang="en-US" sz="2200" dirty="0"/>
              <a:t>The system must escalate enquiries when confidence is low or no relevant knowledge is found.</a:t>
            </a:r>
          </a:p>
          <a:p>
            <a:pPr algn="l"/>
            <a:r>
              <a:rPr lang="en-US" sz="2200" dirty="0"/>
              <a:t>The system should log interactions and agent decisions for transparency.</a:t>
            </a:r>
          </a:p>
          <a:p>
            <a:pPr algn="l"/>
            <a:r>
              <a:rPr lang="en-US" sz="2200" b="1" dirty="0"/>
              <a:t>Non-Functional Requirements</a:t>
            </a:r>
            <a:endParaRPr lang="en-US" sz="2200" dirty="0"/>
          </a:p>
          <a:p>
            <a:pPr algn="l"/>
            <a:r>
              <a:rPr lang="en-US" sz="2200" dirty="0"/>
              <a:t>The system must respond within an acceptable time for real-time guest interaction.</a:t>
            </a:r>
          </a:p>
          <a:p>
            <a:pPr algn="l"/>
            <a:r>
              <a:rPr lang="en-US" sz="2200" dirty="0"/>
              <a:t>The system should be modular, extensible, and maintainable.</a:t>
            </a:r>
          </a:p>
          <a:p>
            <a:pPr algn="l"/>
            <a:r>
              <a:rPr lang="en-US" sz="2200" dirty="0"/>
              <a:t>The system should be robust to incomplete or ambiguous guest enquiries</a:t>
            </a:r>
            <a:r>
              <a:rPr lang="en-US" sz="9600" dirty="0"/>
              <a:t>.</a:t>
            </a:r>
          </a:p>
        </p:txBody>
      </p:sp>
      <p:sp>
        <p:nvSpPr>
          <p:cNvPr id="15" name="TextBox 14">
            <a:extLst>
              <a:ext uri="{FF2B5EF4-FFF2-40B4-BE49-F238E27FC236}">
                <a16:creationId xmlns:a16="http://schemas.microsoft.com/office/drawing/2014/main" id="{9F5ED70B-CEA5-47FA-AEAC-03AF27505209}"/>
              </a:ext>
            </a:extLst>
          </p:cNvPr>
          <p:cNvSpPr txBox="1"/>
          <p:nvPr/>
        </p:nvSpPr>
        <p:spPr>
          <a:xfrm>
            <a:off x="10361349" y="11663265"/>
            <a:ext cx="3071898" cy="523220"/>
          </a:xfrm>
          <a:prstGeom prst="rect">
            <a:avLst/>
          </a:prstGeom>
          <a:noFill/>
        </p:spPr>
        <p:txBody>
          <a:bodyPr wrap="square" rtlCol="0">
            <a:spAutoFit/>
          </a:bodyPr>
          <a:lstStyle/>
          <a:p>
            <a:r>
              <a:rPr lang="en-GB" sz="2800" dirty="0"/>
              <a:t>State </a:t>
            </a:r>
            <a:r>
              <a:rPr lang="en-GB" sz="2800" i="1" dirty="0"/>
              <a:t>Diagram</a:t>
            </a:r>
          </a:p>
        </p:txBody>
      </p:sp>
      <p:sp>
        <p:nvSpPr>
          <p:cNvPr id="17" name="TextBox 16">
            <a:extLst>
              <a:ext uri="{FF2B5EF4-FFF2-40B4-BE49-F238E27FC236}">
                <a16:creationId xmlns:a16="http://schemas.microsoft.com/office/drawing/2014/main" id="{8031F712-8648-4AFF-9A6D-FCBF70730BEB}"/>
              </a:ext>
            </a:extLst>
          </p:cNvPr>
          <p:cNvSpPr txBox="1"/>
          <p:nvPr/>
        </p:nvSpPr>
        <p:spPr>
          <a:xfrm>
            <a:off x="17264749" y="11447821"/>
            <a:ext cx="2666822" cy="954107"/>
          </a:xfrm>
          <a:prstGeom prst="rect">
            <a:avLst/>
          </a:prstGeom>
          <a:noFill/>
        </p:spPr>
        <p:txBody>
          <a:bodyPr wrap="square" rtlCol="0">
            <a:spAutoFit/>
          </a:bodyPr>
          <a:lstStyle/>
          <a:p>
            <a:r>
              <a:rPr lang="en-GB" sz="2800" i="1" dirty="0"/>
              <a:t>Implementation artefacts (if any)</a:t>
            </a:r>
          </a:p>
        </p:txBody>
      </p:sp>
      <p:sp>
        <p:nvSpPr>
          <p:cNvPr id="18" name="Title 1">
            <a:extLst>
              <a:ext uri="{FF2B5EF4-FFF2-40B4-BE49-F238E27FC236}">
                <a16:creationId xmlns:a16="http://schemas.microsoft.com/office/drawing/2014/main" id="{CC83C7AB-E1BB-4B82-A1F9-C20A7B903A89}"/>
              </a:ext>
            </a:extLst>
          </p:cNvPr>
          <p:cNvSpPr txBox="1">
            <a:spLocks/>
          </p:cNvSpPr>
          <p:nvPr/>
        </p:nvSpPr>
        <p:spPr>
          <a:xfrm>
            <a:off x="20664023" y="5848477"/>
            <a:ext cx="8442263" cy="2296799"/>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2400" dirty="0"/>
              <a:t/>
            </a:r>
            <a:br>
              <a:rPr lang="en-GB" sz="2400" dirty="0"/>
            </a:br>
            <a:endParaRPr lang="en-GB" sz="2400" dirty="0"/>
          </a:p>
        </p:txBody>
      </p:sp>
      <p:sp>
        <p:nvSpPr>
          <p:cNvPr id="19" name="Title 1">
            <a:extLst>
              <a:ext uri="{FF2B5EF4-FFF2-40B4-BE49-F238E27FC236}">
                <a16:creationId xmlns:a16="http://schemas.microsoft.com/office/drawing/2014/main" id="{5B50A179-7B9A-4987-A17A-B2BA2FD57E22}"/>
              </a:ext>
            </a:extLst>
          </p:cNvPr>
          <p:cNvSpPr txBox="1">
            <a:spLocks/>
          </p:cNvSpPr>
          <p:nvPr/>
        </p:nvSpPr>
        <p:spPr>
          <a:xfrm>
            <a:off x="20616337" y="7407221"/>
            <a:ext cx="9658875" cy="9765308"/>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Planning and Management:</a:t>
            </a:r>
            <a:r>
              <a:rPr lang="en-GB" sz="3000" dirty="0"/>
              <a:t/>
            </a:r>
            <a:br>
              <a:rPr lang="en-GB" sz="3000" dirty="0"/>
            </a:br>
            <a:r>
              <a:rPr lang="en-GB" sz="2600" dirty="0"/>
              <a:t/>
            </a:r>
            <a:br>
              <a:rPr lang="en-GB" sz="2600" dirty="0"/>
            </a:br>
            <a:r>
              <a:rPr lang="en-US" sz="2200" dirty="0"/>
              <a:t>The project follows a sequential technical workflow focused on the development of an AI agent for hotel guest support. The process begins with defining core guest support scenarios, including booking enquiries, policy clarification, and service complaints. Next, a hotel-specific knowledge base is constructed from policy documents, service descriptions, and FAQs, which is then processed into vector </a:t>
            </a:r>
            <a:r>
              <a:rPr lang="en-US" sz="2200" dirty="0" err="1"/>
              <a:t>embeddings</a:t>
            </a:r>
            <a:r>
              <a:rPr lang="en-US" sz="2200" dirty="0"/>
              <a:t> to enable semantic retrieval</a:t>
            </a:r>
            <a:r>
              <a:rPr lang="en-US" sz="2200" dirty="0" smtClean="0"/>
              <a:t>.</a:t>
            </a:r>
          </a:p>
          <a:p>
            <a:pPr algn="l"/>
            <a:endParaRPr lang="en-US" sz="2200" dirty="0"/>
          </a:p>
          <a:p>
            <a:pPr algn="l"/>
            <a:r>
              <a:rPr lang="en-US" sz="2200" dirty="0"/>
              <a:t>Following this, a Retrieval-Augmented Generation pipeline is implemented by integrating a large language model with the retrieval component to ensure responses are grounded in hotel knowledge. An AI agent control layer is then developed to </a:t>
            </a:r>
            <a:r>
              <a:rPr lang="en-US" sz="2200" dirty="0" err="1"/>
              <a:t>analyse</a:t>
            </a:r>
            <a:r>
              <a:rPr lang="en-US" sz="2200" dirty="0"/>
              <a:t> guest intent, manage retrieval actions, and generate responses. A confidence-based decision mechanism is incorporated to determine whether a request can be resolved automatically or requires escalation to hotel staff</a:t>
            </a:r>
            <a:r>
              <a:rPr lang="en-US" sz="2200" dirty="0" smtClean="0"/>
              <a:t>.</a:t>
            </a:r>
          </a:p>
          <a:p>
            <a:pPr algn="l"/>
            <a:endParaRPr lang="en-US" sz="2200" dirty="0"/>
          </a:p>
          <a:p>
            <a:pPr algn="l"/>
            <a:r>
              <a:rPr lang="en-US" sz="2200" dirty="0"/>
              <a:t>Finally, the system is integrated into a simple user interface to support end-to-end guest interactions. The completed AI agent is evaluated through representative hotel guest scenarios to verify retrieval accuracy, response relevance, and correct escalation </a:t>
            </a:r>
            <a:r>
              <a:rPr lang="en-US" sz="2200" dirty="0" err="1"/>
              <a:t>behaviour</a:t>
            </a:r>
            <a:r>
              <a:rPr lang="en-US" sz="2200" dirty="0"/>
              <a:t>.</a:t>
            </a:r>
          </a:p>
          <a:p>
            <a:pPr algn="l"/>
            <a:endParaRPr lang="en-US" sz="2200" dirty="0"/>
          </a:p>
        </p:txBody>
      </p:sp>
      <p:sp>
        <p:nvSpPr>
          <p:cNvPr id="20" name="Title 1">
            <a:extLst>
              <a:ext uri="{FF2B5EF4-FFF2-40B4-BE49-F238E27FC236}">
                <a16:creationId xmlns:a16="http://schemas.microsoft.com/office/drawing/2014/main" id="{D8D1FE95-39F4-4D38-B2EF-53232BFBC6D7}"/>
              </a:ext>
            </a:extLst>
          </p:cNvPr>
          <p:cNvSpPr txBox="1">
            <a:spLocks/>
          </p:cNvSpPr>
          <p:nvPr/>
        </p:nvSpPr>
        <p:spPr>
          <a:xfrm>
            <a:off x="20664023" y="13827968"/>
            <a:ext cx="9547516" cy="7240506"/>
          </a:xfrm>
          <a:prstGeom prst="rect">
            <a:avLst/>
          </a:prstGeom>
        </p:spPr>
        <p:txBody>
          <a:bodyPr vert="horz" lIns="91440" tIns="45720" rIns="91440" bIns="45720" rtlCol="0" anchor="t">
            <a:normAutofit/>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GB" sz="3000" b="1" dirty="0"/>
              <a:t>References:</a:t>
            </a:r>
            <a:r>
              <a:rPr lang="en-GB" sz="3000" dirty="0"/>
              <a:t/>
            </a:r>
            <a:br>
              <a:rPr lang="en-GB" sz="3000" dirty="0"/>
            </a:br>
            <a:r>
              <a:rPr lang="en-GB" sz="3000" dirty="0"/>
              <a:t/>
            </a:r>
            <a:br>
              <a:rPr lang="en-GB" sz="3000" dirty="0"/>
            </a:br>
            <a:r>
              <a:rPr lang="en-US" sz="2200" dirty="0"/>
              <a:t>Lewis, P., Perez, E., </a:t>
            </a:r>
            <a:r>
              <a:rPr lang="en-US" sz="2200" dirty="0" err="1"/>
              <a:t>Piktus</a:t>
            </a:r>
            <a:r>
              <a:rPr lang="en-US" sz="2200" dirty="0"/>
              <a:t>, A., et al. (2020) Retrieval-augmented generation for knowledge-intensive NLP tasks. Advances in Neural Information Processing Systems [online]. 33, pp. 9459–9474. Available from: https://papers.nips.cc/paper/2020/hash/6b493230205f780e1bc26945df7481e-paper.pdf [Accessed 24 November 2023].</a:t>
            </a:r>
          </a:p>
          <a:p>
            <a:pPr algn="l"/>
            <a:endParaRPr lang="en-US" sz="2200" dirty="0"/>
          </a:p>
          <a:p>
            <a:pPr algn="l"/>
            <a:r>
              <a:rPr lang="en-US" sz="2200" dirty="0"/>
              <a:t>Russell, S. and </a:t>
            </a:r>
            <a:r>
              <a:rPr lang="en-US" sz="2200" dirty="0" err="1"/>
              <a:t>Norvig</a:t>
            </a:r>
            <a:r>
              <a:rPr lang="en-US" sz="2200" dirty="0"/>
              <a:t>, P. (2021) Artificial Intelligence: A Modern Approach. 4th </a:t>
            </a:r>
            <a:r>
              <a:rPr lang="en-US" sz="2200" dirty="0" err="1"/>
              <a:t>edn</a:t>
            </a:r>
            <a:r>
              <a:rPr lang="en-US" sz="2200" dirty="0"/>
              <a:t>. Harlow: Pearson.</a:t>
            </a:r>
          </a:p>
          <a:p>
            <a:pPr algn="l"/>
            <a:endParaRPr lang="en-US" sz="2200" dirty="0"/>
          </a:p>
          <a:p>
            <a:pPr algn="l"/>
            <a:r>
              <a:rPr lang="en-US" sz="2200" dirty="0"/>
              <a:t>Shum, H.-Y., He, X. and Li, D. (2018) From ELIZA to </a:t>
            </a:r>
            <a:r>
              <a:rPr lang="en-US" sz="2200" dirty="0" err="1"/>
              <a:t>XiaoIce</a:t>
            </a:r>
            <a:r>
              <a:rPr lang="en-US" sz="2200" dirty="0"/>
              <a:t>: Challenges and opportunities with social </a:t>
            </a:r>
            <a:r>
              <a:rPr lang="en-US" sz="2200" dirty="0" err="1"/>
              <a:t>chatbots</a:t>
            </a:r>
            <a:r>
              <a:rPr lang="en-US" sz="2200" dirty="0"/>
              <a:t>. Frontiers of Information Technology &amp; Electronic Engineering [online]. 19 (1), pp. 10–26. Available from: https://doi.org/10.1631/FITEE.1700826 [Accessed 24 November 2023].</a:t>
            </a:r>
          </a:p>
          <a:p>
            <a:pPr algn="l"/>
            <a:endParaRPr lang="en-US" sz="2200" dirty="0"/>
          </a:p>
          <a:p>
            <a:pPr algn="l"/>
            <a:r>
              <a:rPr lang="en-US" sz="2200" dirty="0"/>
              <a:t>Wang, Y., Zhang, Y., Liu, Y., Li, C. and Song, J. (2022) Task-oriented dialogue systems in customer service: A survey. ACM Computing Surveys [online]. 55 (4), pp. 1–37. Available from: https://doi.org/10.1145/3485133 [Accessed 28 March 2025].</a:t>
            </a:r>
          </a:p>
          <a:p>
            <a:pPr algn="l"/>
            <a:endParaRPr lang="en-GB" sz="3000" dirty="0"/>
          </a:p>
        </p:txBody>
      </p:sp>
      <p:cxnSp>
        <p:nvCxnSpPr>
          <p:cNvPr id="21" name="Straight Connector 20">
            <a:extLst>
              <a:ext uri="{FF2B5EF4-FFF2-40B4-BE49-F238E27FC236}">
                <a16:creationId xmlns:a16="http://schemas.microsoft.com/office/drawing/2014/main" id="{55B411E9-4872-4190-BCE2-7FC82A022711}"/>
              </a:ext>
            </a:extLst>
          </p:cNvPr>
          <p:cNvCxnSpPr>
            <a:cxnSpLocks/>
          </p:cNvCxnSpPr>
          <p:nvPr/>
        </p:nvCxnSpPr>
        <p:spPr>
          <a:xfrm>
            <a:off x="10097451" y="5006048"/>
            <a:ext cx="0" cy="15763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094C917-028B-4D9F-9148-8DFC6520CD1F}"/>
              </a:ext>
            </a:extLst>
          </p:cNvPr>
          <p:cNvCxnSpPr>
            <a:cxnSpLocks/>
          </p:cNvCxnSpPr>
          <p:nvPr/>
        </p:nvCxnSpPr>
        <p:spPr>
          <a:xfrm>
            <a:off x="20469357" y="5021914"/>
            <a:ext cx="0" cy="1576389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CC7AA43E-169E-4584-BD61-1564EB886BA4}"/>
              </a:ext>
            </a:extLst>
          </p:cNvPr>
          <p:cNvSpPr txBox="1">
            <a:spLocks/>
          </p:cNvSpPr>
          <p:nvPr/>
        </p:nvSpPr>
        <p:spPr>
          <a:xfrm>
            <a:off x="26197545" y="2250384"/>
            <a:ext cx="3950320" cy="747536"/>
          </a:xfrm>
          <a:prstGeom prst="rect">
            <a:avLst/>
          </a:prstGeom>
        </p:spPr>
        <p:txBody>
          <a:bodyPr vert="horz" lIns="91440" tIns="45720" rIns="91440" bIns="45720" rtlCol="0" anchor="t">
            <a:normAutofit lnSpcReduction="1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r>
              <a:rPr lang="en-GB" sz="2400" dirty="0"/>
              <a:t>A QR Code link </a:t>
            </a:r>
            <a:r>
              <a:rPr lang="en-GB" sz="2400" dirty="0" smtClean="0"/>
              <a:t>to </a:t>
            </a:r>
            <a:r>
              <a:rPr lang="en-GB" sz="2400" dirty="0"/>
              <a:t>video submission</a:t>
            </a:r>
          </a:p>
        </p:txBody>
      </p:sp>
      <p:sp>
        <p:nvSpPr>
          <p:cNvPr id="25" name="TextBox 24">
            <a:extLst>
              <a:ext uri="{FF2B5EF4-FFF2-40B4-BE49-F238E27FC236}">
                <a16:creationId xmlns:a16="http://schemas.microsoft.com/office/drawing/2014/main" id="{4D204FDE-6B7C-493E-B33F-71E6F2C28506}"/>
              </a:ext>
            </a:extLst>
          </p:cNvPr>
          <p:cNvSpPr txBox="1"/>
          <p:nvPr/>
        </p:nvSpPr>
        <p:spPr>
          <a:xfrm>
            <a:off x="20616338" y="5006048"/>
            <a:ext cx="1800080" cy="523220"/>
          </a:xfrm>
          <a:prstGeom prst="rect">
            <a:avLst/>
          </a:prstGeom>
          <a:noFill/>
        </p:spPr>
        <p:txBody>
          <a:bodyPr wrap="square" rtlCol="0">
            <a:spAutoFit/>
          </a:bodyPr>
          <a:lstStyle/>
          <a:p>
            <a:r>
              <a:rPr lang="en-GB" sz="2800" i="1" dirty="0"/>
              <a:t>Testing</a:t>
            </a:r>
          </a:p>
        </p:txBody>
      </p:sp>
      <p:sp>
        <p:nvSpPr>
          <p:cNvPr id="26" name="Title 1">
            <a:extLst>
              <a:ext uri="{FF2B5EF4-FFF2-40B4-BE49-F238E27FC236}">
                <a16:creationId xmlns:a16="http://schemas.microsoft.com/office/drawing/2014/main" id="{E7B24A34-D6DD-4B29-ACC3-A1E122AA648B}"/>
              </a:ext>
            </a:extLst>
          </p:cNvPr>
          <p:cNvSpPr txBox="1">
            <a:spLocks/>
          </p:cNvSpPr>
          <p:nvPr/>
        </p:nvSpPr>
        <p:spPr>
          <a:xfrm>
            <a:off x="20616338" y="5613861"/>
            <a:ext cx="8442263" cy="2477170"/>
          </a:xfrm>
          <a:prstGeom prst="rect">
            <a:avLst/>
          </a:prstGeom>
        </p:spPr>
        <p:txBody>
          <a:bodyPr vert="horz" lIns="91440" tIns="45720" rIns="91440" bIns="45720" rtlCol="0" anchor="t">
            <a:normAutofit fontScale="25000" lnSpcReduction="20000"/>
          </a:bodyPr>
          <a:lstStyle>
            <a:lvl1pPr algn="ctr" defTabSz="2138324" rtl="0" eaLnBrk="1" latinLnBrk="0" hangingPunct="1">
              <a:lnSpc>
                <a:spcPct val="90000"/>
              </a:lnSpc>
              <a:spcBef>
                <a:spcPct val="0"/>
              </a:spcBef>
              <a:buNone/>
              <a:defRPr sz="14031" kern="1200">
                <a:solidFill>
                  <a:schemeClr val="tx1"/>
                </a:solidFill>
                <a:latin typeface="+mj-lt"/>
                <a:ea typeface="+mj-ea"/>
                <a:cs typeface="+mj-cs"/>
              </a:defRPr>
            </a:lvl1pPr>
          </a:lstStyle>
          <a:p>
            <a:pPr algn="l"/>
            <a:r>
              <a:rPr lang="en-US" sz="8800" dirty="0"/>
              <a:t>Testing focuses on validating core functionality rather than exhaustive performance benchmarking. Unit testing is applied to components such as intent classification and document retrieval. Scenario-based testing evaluates end-to-end guest interactions, including successful query resolution and escalation cases. Interaction logs are reviewed to verify correct agent decision-making.</a:t>
            </a:r>
            <a:r>
              <a:rPr lang="en-GB" sz="2400" dirty="0"/>
              <a:t/>
            </a:r>
            <a:br>
              <a:rPr lang="en-GB" sz="2400" dirty="0"/>
            </a:br>
            <a:endParaRPr lang="en-GB" sz="2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2806" y="11727534"/>
            <a:ext cx="6007719" cy="905827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61571" y="12496852"/>
            <a:ext cx="3473178" cy="6722795"/>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324862" y="417138"/>
            <a:ext cx="1781424" cy="1790950"/>
          </a:xfrm>
          <a:prstGeom prst="rect">
            <a:avLst/>
          </a:prstGeom>
        </p:spPr>
      </p:pic>
    </p:spTree>
    <p:extLst>
      <p:ext uri="{BB962C8B-B14F-4D97-AF65-F5344CB8AC3E}">
        <p14:creationId xmlns:p14="http://schemas.microsoft.com/office/powerpoint/2010/main" val="35276761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196</TotalTime>
  <Words>356</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Research:  Conversational AI in customer support has evolved from early rule-based chatbots, such as ELIZA-style systems, to data-driven and learning-based models trained on large dialogue datasets (Shum, He and Li, 2018). While task-oriented dialogue systems introduced intent classification and slot-filling to support structured interactions, they often struggle with open-ended and knowledge-intensive enquiries common in hotel guest support scenarios (Wang et al., 2022).  Retrieval-Augmented Generation (RAG), introduced in 2020, improves response reliability by grounding language model outputs in externally retrieved documents, thereby reducing hallucination in knowledge-intensive tasks (Lewis et al., 2020). More recent research on agentic large language models enables conversational systems to reason about actions and autonomously select tools such as retrieval modules or escalation mechanisms, supporting more adaptive and reliable guest support in hospitality environments (Russell and Norvig, 2021).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A short summary of your research providing key related works;  Be critical. Use appropriate citation. </dc:title>
  <dc:creator>Theo Spyridopoulos</dc:creator>
  <cp:lastModifiedBy>Admin</cp:lastModifiedBy>
  <cp:revision>15</cp:revision>
  <dcterms:created xsi:type="dcterms:W3CDTF">2017-09-14T11:34:59Z</dcterms:created>
  <dcterms:modified xsi:type="dcterms:W3CDTF">2026-02-02T18:32:50Z</dcterms:modified>
</cp:coreProperties>
</file>